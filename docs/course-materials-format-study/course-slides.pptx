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b8eb9de15341c4" /><Relationship Type="http://schemas.openxmlformats.org/officeDocument/2006/relationships/extended-properties" Target="/docProps/app.xml" Id="R1ee56ffd94f74549" /><Relationship Type="http://schemas.openxmlformats.org/officeDocument/2006/relationships/officeDocument" Target="/ppt/presentation.xml" Id="R0ab020a7784e4b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81ee0d5a1140fa"/>
  </p:sldMasterIdLst>
  <p:notesMasterIdLst>
    <p:notesMasterId xmlns:r="http://schemas.openxmlformats.org/officeDocument/2006/relationships" r:id="R32be9ab4a9b341de"/>
  </p:notesMasterIdLst>
  <p:sldIdLst>
    <p:sldId xmlns:r="http://schemas.openxmlformats.org/officeDocument/2006/relationships" id="256" r:id="R4bb7697a146f4e52"/>
    <p:sldId xmlns:r="http://schemas.openxmlformats.org/officeDocument/2006/relationships" id="257" r:id="Ra9a0f6742c234ff1"/>
    <p:sldId xmlns:r="http://schemas.openxmlformats.org/officeDocument/2006/relationships" id="258" r:id="R62295696c4604a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16272aa1344950" /><Relationship Type="http://schemas.openxmlformats.org/officeDocument/2006/relationships/slideMaster" Target="/ppt/slideMasters/slideMaster1.xml" Id="Rf881ee0d5a1140fa" /><Relationship Type="http://schemas.openxmlformats.org/officeDocument/2006/relationships/notesMaster" Target="/ppt/notesMasters/notesMaster1.xml" Id="R32be9ab4a9b341de" /><Relationship Type="http://schemas.openxmlformats.org/officeDocument/2006/relationships/presProps" Target="/ppt/presProps.xml" Id="R28e3d3e3a68d439e" /><Relationship Type="http://schemas.openxmlformats.org/officeDocument/2006/relationships/tableStyles" Target="/ppt/tableStyles.xml" Id="Rf20975751e3f4bd8" /><Relationship Type="http://schemas.openxmlformats.org/officeDocument/2006/relationships/slide" Target="/ppt/slides/slide1.xml" Id="R4bb7697a146f4e52" /><Relationship Type="http://schemas.openxmlformats.org/officeDocument/2006/relationships/slide" Target="/ppt/slides/slide2.xml" Id="Ra9a0f6742c234ff1" /><Relationship Type="http://schemas.openxmlformats.org/officeDocument/2006/relationships/slide" Target="/ppt/slides/slide3.xml" Id="R62295696c4604a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e1bf2b39d94a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ea424f66d84379" /><Relationship Type="http://schemas.openxmlformats.org/officeDocument/2006/relationships/notesMaster" Target="/ppt/notesMasters/notesMaster1.xml" Id="Rf1b1a46393cc48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30ba8db3d54a6b" /><Relationship Type="http://schemas.openxmlformats.org/officeDocument/2006/relationships/notesMaster" Target="/ppt/notesMasters/notesMaster1.xml" Id="R9235624d816247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4f9740830c4c1c" /><Relationship Type="http://schemas.openxmlformats.org/officeDocument/2006/relationships/notesMaster" Target="/ppt/notesMasters/notesMaster1.xml" Id="R3369e9fa917048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AI-assisted format study created by KOOM. All data, rules and questions are invented for this sample, not taken from a client course. Objectives: check fields and formats; reconcile row counts; record unresolved issues and a release decision. Explain that ready means passing this sample check, not a guarantee of correctness.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CSV header occupies source row 1; four data rows appear at source rows 2 to 5. The word (blank) is a display label for an empty field, not literal CSV content. Rows 3 and 4 share A102; hold both because unique order_id is an agreed rule in this synthetic exercise. The missing amount is only in row 3. These are sample requirements, not universal rules for all datasets.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Ready rows are A101 and A104. Held rows are both A102 records. Row counts reconcile: 4=2+2. Count agreement alone does not prove accuracy; compare the output values against the unchanged source as well. If partial import is not approved, hold the entire import. Record the source filename/version, checked date, row counts, issues, owner response and release decision. The participant guide carries five assessment questions and an answer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b1e5f571d43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f7949b52a4b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01966151648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6a92d67c4d4f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3fe18f47d49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2eb4469e0d48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1011A2-2B64-4545-A1FF-150EA2F066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5CDC33-BEB5-4594-8A96-90D735B96A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53ED22-C7BA-40F2-A0AE-9A5E096056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F56A1C-4D30-454F-BC75-85C8DFF93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86CFE8-CA81-4C30-822F-8900A3E51A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1603B5-8117-47D6-ABCA-947170A1C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68A15A-FA1A-4251-BC98-5A18AF8291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00E49A-33DC-41C7-BF20-7DA4D8B031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9C78D5-7823-4140-9A47-B9C6BC9619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5FFC16-2A6D-4B4F-A4AD-71ED109F08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a48204fdec4ff9" /><Relationship Type="http://schemas.openxmlformats.org/officeDocument/2006/relationships/slideLayout" Target="/ppt/slideLayouts/slideLayout1.xml" Id="R3ce47ec7d96247b2" /><Relationship Type="http://schemas.openxmlformats.org/officeDocument/2006/relationships/slideLayout" Target="/ppt/slideLayouts/slideLayout2.xml" Id="Rfad6f55e44674b31" /><Relationship Type="http://schemas.openxmlformats.org/officeDocument/2006/relationships/slideLayout" Target="/ppt/slideLayouts/slideLayout3.xml" Id="R2910ff129285456d" /><Relationship Type="http://schemas.openxmlformats.org/officeDocument/2006/relationships/slideLayout" Target="/ppt/slideLayouts/slideLayout4.xml" Id="R821eec2b933b47db" /><Relationship Type="http://schemas.openxmlformats.org/officeDocument/2006/relationships/slideLayout" Target="/ppt/slideLayouts/slideLayout5.xml" Id="Re49315bae5234cd8" /><Relationship Type="http://schemas.openxmlformats.org/officeDocument/2006/relationships/slideLayout" Target="/ppt/slideLayouts/slideLayout6.xml" Id="Reeec6b10a1d749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e47ec7d96247b2"/>
    <p:sldLayoutId xmlns:r="http://schemas.openxmlformats.org/officeDocument/2006/relationships" id="2147483650" r:id="Rfad6f55e44674b31"/>
    <p:sldLayoutId xmlns:r="http://schemas.openxmlformats.org/officeDocument/2006/relationships" id="2147483651" r:id="R2910ff129285456d"/>
    <p:sldLayoutId xmlns:r="http://schemas.openxmlformats.org/officeDocument/2006/relationships" id="2147483652" r:id="R821eec2b933b47db"/>
    <p:sldLayoutId xmlns:r="http://schemas.openxmlformats.org/officeDocument/2006/relationships" id="2147483653" r:id="Re49315bae5234cd8"/>
    <p:sldLayoutId xmlns:r="http://schemas.openxmlformats.org/officeDocument/2006/relationships" id="2147483654" r:id="Reeec6b10a1d749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3edc6ecb34c2f" /><Relationship Type="http://schemas.openxmlformats.org/officeDocument/2006/relationships/notesSlide" Target="/ppt/notesSlides/notesSlide1.xml" Id="Rae78447e97084d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b209bed6e4bf4" /><Relationship Type="http://schemas.openxmlformats.org/officeDocument/2006/relationships/notesSlide" Target="/ppt/notesSlides/notesSlide2.xml" Id="Rdbeb428a7e8e45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2779555f44f41" /><Relationship Type="http://schemas.openxmlformats.org/officeDocument/2006/relationships/notesSlide" Target="/ppt/notesSlides/notesSlide3.xml" Id="Reb927de1522645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DFDC4-421C-4F31-89DE-93DF76DC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04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773"/>
                </a:solidFill>
                <a:latin typeface="Arial"/>
                <a:ea typeface="Arial"/>
                <a:cs typeface="Arial"/>
              </a:rPr>
              <a:t>KOOM  /  INDEPENDENT FORMAT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446F8-5562-4E14-89EB-C2703F53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E62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E62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E6274"/>
                </a:solidFill>
                <a:latin typeface="Arial"/>
                <a:ea typeface="Arial"/>
                <a:cs typeface="Arial"/>
              </a:rPr>
              <a:t>Independent AI-assisted format study • Synthetic data • No client commission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284E0-F569-4267-909C-BF5AFBFD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7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B0970-6913-4602-A555-C44390A9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4773"/>
                </a:solidFill>
                <a:latin typeface="Arial"/>
                <a:ea typeface="Arial"/>
                <a:cs typeface="Arial"/>
              </a:rPr>
              <a:t>Checking a small CSV import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1DF1D-0797-4370-BC5A-C3146659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E62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4E62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E6274"/>
                </a:solidFill>
                <a:latin typeface="Arial"/>
                <a:ea typeface="Arial"/>
                <a:cs typeface="Arial"/>
              </a:rPr>
              <a:t>Review the data before using it in a report or another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84BEC-2A83-452B-8234-8F7E3D4C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2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2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D42"/>
                </a:solidFill>
                <a:latin typeface="Arial"/>
                <a:ea typeface="Arial"/>
                <a:cs typeface="Arial"/>
              </a:rPr>
              <a:t>By the end, you 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23F21-674D-4B2A-A197-7389B63C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2"/>
                </a:solidFill>
                <a:latin typeface="Arial"/>
                <a:ea typeface="Arial"/>
                <a:cs typeface="Arial"/>
              </a:rPr>
              <a:t>01   Check required fields, formats and duplicate IDs.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1923F-9808-4C55-9D9E-86F32D21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2"/>
                </a:solidFill>
                <a:latin typeface="Arial"/>
                <a:ea typeface="Arial"/>
                <a:cs typeface="Arial"/>
              </a:rPr>
              <a:t>02   Reconcile ready and held rows with the source.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DB005-D99D-457F-AFAF-3794DCA8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D42"/>
                </a:solidFill>
                <a:latin typeface="Arial"/>
                <a:ea typeface="Arial"/>
                <a:cs typeface="Arial"/>
              </a:rPr>
              <a:t>03   Record what needs confirmation before release.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C0036-1D98-4420-B35A-D2F1F47A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4773"/>
                </a:solidFill>
                <a:latin typeface="Arial"/>
                <a:ea typeface="Arial"/>
                <a:cs typeface="Arial"/>
              </a:rPr>
              <a:t>Work on a copy. Keep the original file unchanged.</a:t>
            </a:r>
          </a:p>
        </p:txBody>
      </p:sp>
    </p:spTree>
    <p:extLst>
      <p:ext uri="{BB962C8B-B14F-4D97-AF65-F5344CB8AC3E}">
        <p14:creationId xmlns:p14="http://schemas.microsoft.com/office/powerpoint/2010/main" val="1072366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E6ED5-3E7F-4F59-A724-241E43B7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04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773"/>
                </a:solidFill>
                <a:latin typeface="Arial"/>
                <a:ea typeface="Arial"/>
                <a:cs typeface="Arial"/>
              </a:rPr>
              <a:t>KOOM  /  INDEPENDENT FORMAT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8E3DB-7045-4557-A253-7DD2B6EA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E62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E62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E6274"/>
                </a:solidFill>
                <a:latin typeface="Arial"/>
                <a:ea typeface="Arial"/>
                <a:cs typeface="Arial"/>
              </a:rPr>
              <a:t>Independent AI-assisted format study • Synthetic data • No client commission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CD399-F34D-47A8-95FF-B54AE54D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7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CB273-6F06-4270-9EB9-9FDDD2DB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4773"/>
                </a:solidFill>
                <a:latin typeface="Arial"/>
                <a:ea typeface="Arial"/>
                <a:cs typeface="Arial"/>
              </a:rPr>
              <a:t>Inspect the sample import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102A4-8549-4D90-8618-5E90A6E0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42"/>
                </a:solidFill>
                <a:latin typeface="Arial"/>
                <a:ea typeface="Arial"/>
                <a:cs typeface="Arial"/>
              </a:rPr>
              <a:t>Sample rules: unique order_id; date as YYYY-MM-DD;</a:t>
            </a:r>
          </a:p>
          <a:p xmlns:a="http://schemas.openxmlformats.org/drawingml/2006/main">
            <a:pPr>
              <a:defRPr sz="1875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42"/>
                </a:solidFill>
                <a:latin typeface="Arial"/>
                <a:ea typeface="Arial"/>
                <a:cs typeface="Arial"/>
              </a:rPr>
              <a:t>amount_usd required, numeric and zero or greater.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CA299-D5DC-422F-BA4B-D59C172987B6}"/>
              </a:ext>
            </a:extLst>
          </p:cNvPr>
          <p:cNvGraphicFramePr/>
          <p:nvPr/>
        </p:nvGraphicFramePr>
        <p:xfrm>
          <a:off xmlns:a="http://schemas.openxmlformats.org/drawingml/2006/main" x="609600" y="2781300"/>
          <a:ext xmlns:a="http://schemas.openxmlformats.org/drawingml/2006/main" cx="10972800" cy="2533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381250"/>
                <a:gridCol w="3429000"/>
                <a:gridCol w="3162300"/>
              </a:tblGrid>
              <a:tr h="50673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row</a:t>
                      </a:r>
                    </a:p>
                  </a:txBody>
                  <a:tcPr marL="142875" marR="142875" marT="104775" marB="104775" anchor="ctr">
                    <a:solidFill>
                      <a:srgbClr val="1747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order_id</a:t>
                      </a:r>
                    </a:p>
                  </a:txBody>
                  <a:tcPr marL="142875" marR="142875" marT="104775" marB="104775" anchor="ctr">
                    <a:solidFill>
                      <a:srgbClr val="1747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order_date</a:t>
                      </a:r>
                    </a:p>
                  </a:txBody>
                  <a:tcPr marL="142875" marR="142875" marT="104775" marB="104775" anchor="ctr">
                    <a:solidFill>
                      <a:srgbClr val="1747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amount_usd</a:t>
                      </a:r>
                    </a:p>
                  </a:txBody>
                  <a:tcPr marL="142875" marR="142875" marT="104775" marB="104775" anchor="ctr">
                    <a:solidFill>
                      <a:srgbClr val="174773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A101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2026-10-01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25.00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42875" marR="142875" marT="104775" marB="104775" anchor="ctr">
                    <a:solidFill>
                      <a:srgbClr val="E9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A102</a:t>
                      </a:r>
                    </a:p>
                  </a:txBody>
                  <a:tcPr marL="142875" marR="142875" marT="104775" marB="104775" anchor="ctr">
                    <a:solidFill>
                      <a:srgbClr val="E9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2026-10-01</a:t>
                      </a:r>
                    </a:p>
                  </a:txBody>
                  <a:tcPr marL="142875" marR="142875" marT="104775" marB="104775" anchor="ctr">
                    <a:solidFill>
                      <a:srgbClr val="E9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(blank)</a:t>
                      </a:r>
                    </a:p>
                  </a:txBody>
                  <a:tcPr marL="142875" marR="142875" marT="104775" marB="104775" anchor="ctr">
                    <a:solidFill>
                      <a:srgbClr val="E9EFF3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A102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2026-10-02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18.00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42875" marR="142875" marT="104775" marB="104775" anchor="ctr">
                    <a:solidFill>
                      <a:srgbClr val="E9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A104</a:t>
                      </a:r>
                    </a:p>
                  </a:txBody>
                  <a:tcPr marL="142875" marR="142875" marT="104775" marB="104775" anchor="ctr">
                    <a:solidFill>
                      <a:srgbClr val="E9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2026-10-03</a:t>
                      </a:r>
                    </a:p>
                  </a:txBody>
                  <a:tcPr marL="142875" marR="142875" marT="104775" marB="104775" anchor="ctr">
                    <a:solidFill>
                      <a:srgbClr val="E9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32.00</a:t>
                      </a:r>
                    </a:p>
                  </a:txBody>
                  <a:tcPr marL="142875" marR="142875" marT="104775" marB="104775" anchor="ctr">
                    <a:solidFill>
                      <a:srgbClr val="E9EFF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B3DEB-B062-4F87-8351-B0D296F5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773"/>
                </a:solidFill>
                <a:latin typeface="Arial"/>
                <a:ea typeface="Arial"/>
                <a:cs typeface="Arial"/>
              </a:rPr>
              <a:t>Hold source rows 3 and 4: missing amount and duplicate ID.</a:t>
            </a:r>
          </a:p>
          <a:p xmlns:a="http://schemas.openxmlformats.org/drawingml/2006/main">
            <a:pPr>
              <a:defRPr sz="18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773"/>
                </a:solidFill>
                <a:latin typeface="Arial"/>
                <a:ea typeface="Arial"/>
                <a:cs typeface="Arial"/>
              </a:rPr>
              <a:t>Ask the data owner to resolve them. Do not guess or silently delete.</a:t>
            </a:r>
          </a:p>
        </p:txBody>
      </p:sp>
    </p:spTree>
    <p:extLst>
      <p:ext uri="{BB962C8B-B14F-4D97-AF65-F5344CB8AC3E}">
        <p14:creationId xmlns:p14="http://schemas.microsoft.com/office/powerpoint/2010/main" val="557044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FE8FB-121D-4CB9-8121-B11C0675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04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773"/>
                </a:solidFill>
                <a:latin typeface="Arial"/>
                <a:ea typeface="Arial"/>
                <a:cs typeface="Arial"/>
              </a:rPr>
              <a:t>KOOM  /  INDEPENDENT FORMAT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26721-E729-4098-BEEB-45A410DD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E62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E62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E6274"/>
                </a:solidFill>
                <a:latin typeface="Arial"/>
                <a:ea typeface="Arial"/>
                <a:cs typeface="Arial"/>
              </a:rPr>
              <a:t>Independent AI-assisted format study • Synthetic data • No client commission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31888-758B-4D87-B711-898129EA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7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075B2-E656-4600-85AF-10D2CBA1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4773"/>
                </a:solidFill>
                <a:latin typeface="Arial"/>
                <a:ea typeface="Arial"/>
                <a:cs typeface="Arial"/>
              </a:rPr>
              <a:t>Reconcile and record a decision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523D7-9AAF-46AA-8ADB-37786D75F402}"/>
              </a:ext>
            </a:extLst>
          </p:cNvPr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1238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57600"/>
                <a:gridCol w="3657600"/>
                <a:gridCol w="3657600"/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data rows</a:t>
                      </a:r>
                    </a:p>
                  </a:txBody>
                  <a:tcPr marL="142875" marR="142875" marT="104775" marB="104775" anchor="ctr">
                    <a:solidFill>
                      <a:srgbClr val="1747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Ready rows</a:t>
                      </a:r>
                    </a:p>
                  </a:txBody>
                  <a:tcPr marL="142875" marR="142875" marT="104775" marB="104775" anchor="ctr">
                    <a:solidFill>
                      <a:srgbClr val="1747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Held rows</a:t>
                      </a:r>
                    </a:p>
                  </a:txBody>
                  <a:tcPr marL="142875" marR="142875" marT="104775" marB="104775" anchor="ctr">
                    <a:solidFill>
                      <a:srgbClr val="17477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79072-91D3-4F6A-8A81-273E2593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47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4773"/>
                </a:solidFill>
                <a:latin typeface="Arial"/>
                <a:ea typeface="Arial"/>
                <a:cs typeface="Arial"/>
              </a:rPr>
              <a:t>4 source rows = 2 ready rows + 2 held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A7B6F-12E9-40E4-A675-A98BC484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D42"/>
                </a:solidFill>
                <a:latin typeface="Arial"/>
                <a:ea typeface="Arial"/>
                <a:cs typeface="Arial"/>
              </a:rPr>
              <a:t>Record the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3308A-F536-49E1-82F4-6FDCECC8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38600"/>
            <a:ext cx="7286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42"/>
                </a:solidFill>
                <a:latin typeface="Arial"/>
                <a:ea typeface="Arial"/>
                <a:cs typeface="Arial"/>
              </a:rPr>
              <a:t>Rows 3–4, A102: confirm the ID and missing amount with the data owner.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786BA-5246-4DC8-B9ED-CD22C184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D42"/>
                </a:solidFill>
                <a:latin typeface="Arial"/>
                <a:ea typeface="Arial"/>
                <a:cs typeface="Arial"/>
              </a:rPr>
              <a:t>Choose the next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762A0-DC77-48EA-AF18-B7941ADF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33950"/>
            <a:ext cx="728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42"/>
                </a:solidFill>
                <a:latin typeface="Arial"/>
                <a:ea typeface="Arial"/>
                <a:cs typeface="Arial"/>
              </a:rPr>
              <a:t>Release A101 and A104 only if partial import is approved.</a:t>
            </a:r>
          </a:p>
          <a:p xmlns:a="http://schemas.openxmlformats.org/drawingml/2006/main">
            <a:pPr>
              <a:defRPr sz="1875" b="0">
                <a:solidFill>
                  <a:srgbClr val="17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D42"/>
                </a:solidFill>
                <a:latin typeface="Arial"/>
                <a:ea typeface="Arial"/>
                <a:cs typeface="Arial"/>
              </a:rPr>
              <a:t>Recheck any corrections before releasing held rows.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6118B-8ECD-4845-928A-2EC4BF4E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E62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274"/>
                </a:solidFill>
                <a:latin typeface="Arial"/>
                <a:ea typeface="Arial"/>
                <a:cs typeface="Arial"/>
              </a:rPr>
              <a:t>Practice: complete questions 1–5 on page 2 of the participant guide.</a:t>
            </a:r>
          </a:p>
        </p:txBody>
      </p:sp>
    </p:spTree>
    <p:extLst>
      <p:ext uri="{BB962C8B-B14F-4D97-AF65-F5344CB8AC3E}">
        <p14:creationId xmlns:p14="http://schemas.microsoft.com/office/powerpoint/2010/main" val="1086163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2026-10-10T21:34:09.9780000Z</dcterms:created>
  <dcterms:modified xsi:type="dcterms:W3CDTF">2026-10-10T21:34:09.9780000Z</dcterms:modified>
</coreProperties>
</file>