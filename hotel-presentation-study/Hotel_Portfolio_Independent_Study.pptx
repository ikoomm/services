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f6a354bf6243d9" /><Relationship Type="http://schemas.openxmlformats.org/officeDocument/2006/relationships/extended-properties" Target="/docProps/app.xml" Id="Re792e46ba55347ec" /><Relationship Type="http://schemas.openxmlformats.org/officeDocument/2006/relationships/officeDocument" Target="/ppt/presentation.xml" Id="Rde8b88a18c0d43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49ffc8b3e641d2"/>
  </p:sldMasterIdLst>
  <p:notesMasterIdLst>
    <p:notesMasterId xmlns:r="http://schemas.openxmlformats.org/officeDocument/2006/relationships" r:id="R7a6112cb21384e46"/>
  </p:notesMasterIdLst>
  <p:sldIdLst>
    <p:sldId xmlns:r="http://schemas.openxmlformats.org/officeDocument/2006/relationships" id="256" r:id="R793bf70b801d4c25"/>
    <p:sldId xmlns:r="http://schemas.openxmlformats.org/officeDocument/2006/relationships" id="257" r:id="R07f56bab2cad44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368d4981ab4cc4" /><Relationship Type="http://schemas.openxmlformats.org/officeDocument/2006/relationships/slideMaster" Target="/ppt/slideMasters/slideMaster1.xml" Id="Ra649ffc8b3e641d2" /><Relationship Type="http://schemas.openxmlformats.org/officeDocument/2006/relationships/notesMaster" Target="/ppt/notesMasters/notesMaster1.xml" Id="R7a6112cb21384e46" /><Relationship Type="http://schemas.openxmlformats.org/officeDocument/2006/relationships/presProps" Target="/ppt/presProps.xml" Id="Ra18760b8ced24a34" /><Relationship Type="http://schemas.openxmlformats.org/officeDocument/2006/relationships/tableStyles" Target="/ppt/tableStyles.xml" Id="Re50c00cb74e447af" /><Relationship Type="http://schemas.openxmlformats.org/officeDocument/2006/relationships/slide" Target="/ppt/slides/slide1.xml" Id="R793bf70b801d4c25" /><Relationship Type="http://schemas.openxmlformats.org/officeDocument/2006/relationships/slide" Target="/ppt/slides/slide2.xml" Id="R07f56bab2cad44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54610d20034b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4c539e81f74bf5" /><Relationship Type="http://schemas.openxmlformats.org/officeDocument/2006/relationships/notesMaster" Target="/ppt/notesMasters/notesMaster1.xml" Id="Ref567c55e39e4e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87c5541806490a" /><Relationship Type="http://schemas.openxmlformats.org/officeDocument/2006/relationships/notesMaster" Target="/ppt/notesMasters/notesMaster1.xml" Id="R0fdcd942250f4e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concept created with AI assistance. Original layout and native editable text. This is a two-slide design study, not commissioned hospitality work. No actual hotel results, affiliations or operating claims. Photo is mood imagery only.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"file": "cover-tall.jpg",</a:t>
            </a:r>
          </a:p>
          <a:p xmlns:a="http://schemas.openxmlformats.org/drawingml/2006/main">
            <a:r>
              <a:t>  "description": "Courtyard entrance of Hôtel de Besenval, Paris; architectural mood reference",</a:t>
            </a:r>
          </a:p>
          <a:p xmlns:a="http://schemas.openxmlformats.org/drawingml/2006/main">
            <a:r>
              <a:t>  "author": "John Jason Junior",</a:t>
            </a:r>
          </a:p>
          <a:p xmlns:a="http://schemas.openxmlformats.org/drawingml/2006/main">
            <a:r>
              <a:t>  "license": "CC0 1.0 Universal",</a:t>
            </a:r>
          </a:p>
          <a:p xmlns:a="http://schemas.openxmlformats.org/drawingml/2006/main">
            <a:r>
              <a:t>  "license_url": "https://creativecommons.org/publicdomain/zero/1.0/",</a:t>
            </a:r>
          </a:p>
          <a:p xmlns:a="http://schemas.openxmlformats.org/drawingml/2006/main">
            <a:r>
              <a:t>  "source_page": "https://commons.wikimedia.org/wiki/File:H%C3%B4tel_de_Besenval_Paris_courtyard_main_entrance_residence_and_small_courtyard_%282%29.jpg",</a:t>
            </a:r>
          </a:p>
          <a:p xmlns:a="http://schemas.openxmlformats.org/drawingml/2006/main">
            <a:r>
              <a:t>  "original_url": "https://upload.wikimedia.org/wikipedia/commons/6/62/H%C3%B4tel_de_Besenval_Paris_courtyard_main_entrance_residence_and_small_courtyard_%282%29.jpg",</a:t>
            </a:r>
          </a:p>
          <a:p xmlns:a="http://schemas.openxmlformats.org/drawingml/2006/main">
            <a:r>
              <a:t>  "dimensions": "2279 x 3941",</a:t>
            </a:r>
          </a:p>
          <a:p xmlns:a="http://schemas.openxmlformats.org/drawingml/2006/main">
            <a:r>
              <a:t>  "use": "Slide 1, cover crop. Historic residence photo, not a claim about a commercial hotel."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concept created with AI assistance. Arden House is a fictional property for this study. All bracketed facts require owner confirmation. The photo is mood imagery, not a photograph of Arden House. No hotel, guest, financial, performance or paid-client claims. Native editable text; raster photograph.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"file": "property.jpg",</a:t>
            </a:r>
          </a:p>
          <a:p xmlns:a="http://schemas.openxmlformats.org/drawingml/2006/main">
            <a:r>
              <a:t>  "description": "Lobby of Hôtel-Musée Premières Nations, Quebec; interior mood reference",</a:t>
            </a:r>
          </a:p>
          <a:p xmlns:a="http://schemas.openxmlformats.org/drawingml/2006/main">
            <a:r>
              <a:t>  "author": "Stevemphoto1",</a:t>
            </a:r>
          </a:p>
          <a:p xmlns:a="http://schemas.openxmlformats.org/drawingml/2006/main">
            <a:r>
              <a:t>  "license": "Public domain, self-released worldwide",</a:t>
            </a:r>
          </a:p>
          <a:p xmlns:a="http://schemas.openxmlformats.org/drawingml/2006/main">
            <a:r>
              <a:t>  "source_page": "https://commons.wikimedia.org/wiki/File:Hotel_lobby.jpg",</a:t>
            </a:r>
          </a:p>
          <a:p xmlns:a="http://schemas.openxmlformats.org/drawingml/2006/main">
            <a:r>
              <a:t>  "original_url": "https://upload.wikimedia.org/wikipedia/commons/3/33/Hotel_lobby.jpg",</a:t>
            </a:r>
          </a:p>
          <a:p xmlns:a="http://schemas.openxmlformats.org/drawingml/2006/main">
            <a:r>
              <a:t>  "dimensions": "2074 x 1556",</a:t>
            </a:r>
          </a:p>
          <a:p xmlns:a="http://schemas.openxmlformats.org/drawingml/2006/main">
            <a:r>
              <a:t>  "use": "Slide 2, cropped toward empty left side. Not Arden House."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97bede2c0c48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d93ca3ad8e4a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56147917454c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cdb96d4f6140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1f1df947d40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ed373508ea42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1FB7AE-144C-4A73-A267-5FBEE171DB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E6ADA32-5FEF-468E-8B10-F0455CA971B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B923CA-0867-46AF-B509-6EB5D1F2E1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79AA5D2-6F90-4565-AA4E-A9B99C3E55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C837C4-3A82-41F4-8C97-34EC1DB1E7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2F8F7E-D0F9-4103-8976-5ECF22BF19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6657FD-4B25-4A3A-870E-CDE0EB6447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8D81E36-DB9D-4DAA-ADCC-F3969C6B05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352B83-A672-4872-8213-3CEC4643C6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BB5711-BD69-495B-9F3E-6D02BC735D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6bc826fa484343" /><Relationship Type="http://schemas.openxmlformats.org/officeDocument/2006/relationships/slideLayout" Target="/ppt/slideLayouts/slideLayout1.xml" Id="R8e929362277547d1" /><Relationship Type="http://schemas.openxmlformats.org/officeDocument/2006/relationships/slideLayout" Target="/ppt/slideLayouts/slideLayout2.xml" Id="Rf79f27d49d5b4bfb" /><Relationship Type="http://schemas.openxmlformats.org/officeDocument/2006/relationships/slideLayout" Target="/ppt/slideLayouts/slideLayout3.xml" Id="R8edc4bc60e4d45e5" /><Relationship Type="http://schemas.openxmlformats.org/officeDocument/2006/relationships/slideLayout" Target="/ppt/slideLayouts/slideLayout4.xml" Id="R45276789e50c44ef" /><Relationship Type="http://schemas.openxmlformats.org/officeDocument/2006/relationships/slideLayout" Target="/ppt/slideLayouts/slideLayout5.xml" Id="Ref8ffc2f6ae24b34" /><Relationship Type="http://schemas.openxmlformats.org/officeDocument/2006/relationships/slideLayout" Target="/ppt/slideLayouts/slideLayout6.xml" Id="R5ce386507bd249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929362277547d1"/>
    <p:sldLayoutId xmlns:r="http://schemas.openxmlformats.org/officeDocument/2006/relationships" id="2147483650" r:id="Rf79f27d49d5b4bfb"/>
    <p:sldLayoutId xmlns:r="http://schemas.openxmlformats.org/officeDocument/2006/relationships" id="2147483651" r:id="R8edc4bc60e4d45e5"/>
    <p:sldLayoutId xmlns:r="http://schemas.openxmlformats.org/officeDocument/2006/relationships" id="2147483652" r:id="R45276789e50c44ef"/>
    <p:sldLayoutId xmlns:r="http://schemas.openxmlformats.org/officeDocument/2006/relationships" id="2147483653" r:id="Ref8ffc2f6ae24b34"/>
    <p:sldLayoutId xmlns:r="http://schemas.openxmlformats.org/officeDocument/2006/relationships" id="2147483654" r:id="R5ce386507bd249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5432c307db4482" /><Relationship Type="http://schemas.openxmlformats.org/officeDocument/2006/relationships/image" Target="/ppt/media/image.jpeg" Id="Re079b8ffe01949cc" /><Relationship Type="http://schemas.openxmlformats.org/officeDocument/2006/relationships/notesSlide" Target="/ppt/notesSlides/notesSlide1.xml" Id="R310ccb4f027a42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2cc9407b5c4238" /><Relationship Type="http://schemas.openxmlformats.org/officeDocument/2006/relationships/image" Target="/ppt/media/image2.jpeg" Id="Rc5137e9510214d20" /><Relationship Type="http://schemas.openxmlformats.org/officeDocument/2006/relationships/notesSlide" Target="/ppt/notesSlides/notesSlide2.xml" Id="R2e09f37eee4741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5F512-A65A-4DBA-AA8D-E334A563F1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9b8ffe01949cc"/>
          <a:srcRect xmlns:a="http://schemas.openxmlformats.org/drawingml/2006/main" l="0" t="15303" r="0" b="153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0" y="0"/>
            <a:ext cx="5715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llection-label">
            <a:extLst xmlns:a="http://schemas.openxmlformats.org/drawingml/2006/main">
              <a:ext uri="{FF2B5EF4-FFF2-40B4-BE49-F238E27FC236}">
                <a16:creationId xmlns:a16="http://schemas.microsoft.com/office/drawing/2014/main" id="{ADCFFD4A-79F5-43A3-BB85-24D525CB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D6D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6D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D62"/>
                </a:solidFill>
                <a:latin typeface="Arial"/>
                <a:ea typeface="Arial"/>
                <a:cs typeface="Arial"/>
              </a:rPr>
              <a:t>HOSPITALITY COLLECTION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688CDD6-49E2-4A2A-8249-00ECA12A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5286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100" b="0">
                <a:solidFill>
                  <a:srgbClr val="183F3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5100" b="0">
                <a:solidFill>
                  <a:srgbClr val="183F35"/>
                </a:solidFill>
                <a:latin typeface="Georgia"/>
                <a:ea typeface="Georgia"/>
                <a:cs typeface="Georgia"/>
              </a:defRPr>
            </a:pPr>
            <a:r>
              <a:rPr sz="5100" b="0">
                <a:solidFill>
                  <a:srgbClr val="183F35"/>
                </a:solidFill>
                <a:latin typeface="Georgia"/>
                <a:ea typeface="Georgia"/>
                <a:cs typeface="Georgia"/>
              </a:rPr>
              <a:t>Hotel portfolio</a:t>
            </a:r>
          </a:p>
          <a:p xmlns:a="http://schemas.openxmlformats.org/drawingml/2006/main">
            <a:pPr algn="l">
              <a:defRPr sz="5100" b="0">
                <a:solidFill>
                  <a:srgbClr val="183F35"/>
                </a:solidFill>
                <a:latin typeface="Georgia"/>
                <a:ea typeface="Georgia"/>
                <a:cs typeface="Georgia"/>
              </a:defRPr>
            </a:pPr>
            <a:r>
              <a:rPr sz="5100" b="0">
                <a:solidFill>
                  <a:srgbClr val="183F35"/>
                </a:solidFill>
                <a:latin typeface="Georgia"/>
                <a:ea typeface="Georgia"/>
                <a:cs typeface="Georgia"/>
              </a:rPr>
              <a:t>system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D40C7B1-A837-405A-B83E-7631A20A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00500"/>
            <a:ext cx="523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D6D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D6D6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6D62"/>
                </a:solidFill>
                <a:latin typeface="Arial"/>
                <a:ea typeface="Arial"/>
                <a:cs typeface="Arial"/>
              </a:rPr>
              <a:t>A company story with room</a:t>
            </a:r>
          </a:p>
          <a:p xmlns:a="http://schemas.openxmlformats.org/drawingml/2006/main">
            <a:pPr algn="l">
              <a:defRPr sz="2025" b="0">
                <a:solidFill>
                  <a:srgbClr val="5D6D6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D6D62"/>
                </a:solidFill>
                <a:latin typeface="Arial"/>
                <a:ea typeface="Arial"/>
                <a:cs typeface="Arial"/>
              </a:rPr>
              <a:t>for each property.</a:t>
            </a:r>
          </a:p>
        </p:txBody>
      </p:sp>
      <p:sp>
        <p:nvSpPr>
          <p:cNvPr id="5" name="concept-disclosure">
            <a:extLst xmlns:a="http://schemas.openxmlformats.org/drawingml/2006/main">
              <a:ext uri="{FF2B5EF4-FFF2-40B4-BE49-F238E27FC236}">
                <a16:creationId xmlns:a16="http://schemas.microsoft.com/office/drawing/2014/main" id="{11CE2A4E-1FED-411D-8A9A-B57BC04B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3F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F35"/>
                </a:solidFill>
                <a:latin typeface="Arial"/>
                <a:ea typeface="Arial"/>
                <a:cs typeface="Arial"/>
              </a:rPr>
              <a:t>Independent concept / fictional property</a:t>
            </a:r>
          </a:p>
        </p:txBody>
      </p:sp>
    </p:spTree>
    <p:extLst>
      <p:ext uri="{BB962C8B-B14F-4D97-AF65-F5344CB8AC3E}">
        <p14:creationId xmlns:p14="http://schemas.microsoft.com/office/powerpoint/2010/main" val="1096629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2907D-490D-4396-B1B8-70755B294E3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37e9510214d20"/>
          <a:srcRect xmlns:a="http://schemas.openxmlformats.org/drawingml/2006/main" l="0" t="8000" r="42000" b="2000"/>
          <a:stretch xmlns:a="http://schemas.openxmlformats.org/drawingml/2006/main"/>
        </p:blipFill>
        <p:spPr>
          <a:xfrm xmlns:a="http://schemas.openxmlformats.org/drawingml/2006/main">
            <a:off x="609600" y="628650"/>
            <a:ext cx="4762500" cy="5276850"/>
          </a:xfrm>
          <a:prstGeom xmlns:a="http://schemas.openxmlformats.org/drawingml/2006/main" prst="rect">
            <a:avLst/>
          </a:prstGeom>
        </p:spPr>
      </p:pic>
      <p:sp>
        <p:nvSpPr>
          <p:cNvPr id="2" name="property-label">
            <a:extLst xmlns:a="http://schemas.openxmlformats.org/drawingml/2006/main">
              <a:ext uri="{FF2B5EF4-FFF2-40B4-BE49-F238E27FC236}">
                <a16:creationId xmlns:a16="http://schemas.microsoft.com/office/drawing/2014/main" id="{AF3FF5A2-BB45-476F-9CFF-B7B494F2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38175"/>
            <a:ext cx="542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D6D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D6D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D6D62"/>
                </a:solidFill>
                <a:latin typeface="Arial"/>
                <a:ea typeface="Arial"/>
                <a:cs typeface="Arial"/>
              </a:rPr>
              <a:t>PROPERTY OVERVIEW</a:t>
            </a:r>
          </a:p>
        </p:txBody>
      </p:sp>
      <p:sp>
        <p:nvSpPr>
          <p:cNvPr id="3" name="property-title">
            <a:extLst xmlns:a="http://schemas.openxmlformats.org/drawingml/2006/main">
              <a:ext uri="{FF2B5EF4-FFF2-40B4-BE49-F238E27FC236}">
                <a16:creationId xmlns:a16="http://schemas.microsoft.com/office/drawing/2014/main" id="{B72665E8-FF70-4881-A12E-A6C67D12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095375"/>
            <a:ext cx="5524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4275" b="0">
                <a:solidFill>
                  <a:srgbClr val="183F35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defRPr sz="4275" b="0">
                <a:solidFill>
                  <a:srgbClr val="183F35"/>
                </a:solidFill>
                <a:latin typeface="Georgia"/>
                <a:ea typeface="Georgia"/>
                <a:cs typeface="Georgia"/>
              </a:defRPr>
            </a:pPr>
            <a:r>
              <a:rPr sz="4275" b="0">
                <a:solidFill>
                  <a:srgbClr val="183F35"/>
                </a:solidFill>
                <a:latin typeface="Georgia"/>
                <a:ea typeface="Georgia"/>
                <a:cs typeface="Georgia"/>
              </a:rPr>
              <a:t>Arden House</a:t>
            </a:r>
          </a:p>
        </p:txBody>
      </p:sp>
      <p:sp>
        <p:nvSpPr>
          <p:cNvPr id="4" name="property-subtitle">
            <a:extLst xmlns:a="http://schemas.openxmlformats.org/drawingml/2006/main">
              <a:ext uri="{FF2B5EF4-FFF2-40B4-BE49-F238E27FC236}">
                <a16:creationId xmlns:a16="http://schemas.microsoft.com/office/drawing/2014/main" id="{E0D7AF2D-97EA-4B09-9412-5FC0E04D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52625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D6D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D6D6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D6D62"/>
                </a:solidFill>
                <a:latin typeface="Arial"/>
                <a:ea typeface="Arial"/>
                <a:cs typeface="Arial"/>
              </a:rPr>
              <a:t>An imagined urban retreat</a:t>
            </a:r>
          </a:p>
        </p:txBody>
      </p:sp>
      <p:sp>
        <p:nvSpPr>
          <p:cNvPr id="5" name="property-brief">
            <a:extLst xmlns:a="http://schemas.openxmlformats.org/drawingml/2006/main">
              <a:ext uri="{FF2B5EF4-FFF2-40B4-BE49-F238E27FC236}">
                <a16:creationId xmlns:a16="http://schemas.microsoft.com/office/drawing/2014/main" id="{BDCC0FD3-71AF-4DB7-BB27-7D316CE3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55270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8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F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F35"/>
                </a:solidFill>
                <a:latin typeface="Arial"/>
                <a:ea typeface="Arial"/>
                <a:cs typeface="Arial"/>
              </a:rPr>
              <a:t>Warm interiors and a quiet courtyard.</a:t>
            </a:r>
          </a:p>
          <a:p xmlns:a="http://schemas.openxmlformats.org/drawingml/2006/main">
            <a:pPr algn="l">
              <a:defRPr sz="1800" b="0">
                <a:solidFill>
                  <a:srgbClr val="183F3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F35"/>
                </a:solidFill>
                <a:latin typeface="Arial"/>
                <a:ea typeface="Arial"/>
                <a:cs typeface="Arial"/>
              </a:rPr>
              <a:t>Concept narrative only.</a:t>
            </a:r>
          </a:p>
        </p:txBody>
      </p:sp>
      <p:sp>
        <p:nvSpPr>
          <p:cNvPr id="6" name="field-label-0">
            <a:extLst xmlns:a="http://schemas.openxmlformats.org/drawingml/2006/main">
              <a:ext uri="{FF2B5EF4-FFF2-40B4-BE49-F238E27FC236}">
                <a16:creationId xmlns:a16="http://schemas.microsoft.com/office/drawing/2014/main" id="{4AB867FC-9F4E-49D7-A82A-6BCD7D66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195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5D6D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D6D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D62"/>
                </a:solidFill>
                <a:latin typeface="Arial"/>
                <a:ea typeface="Arial"/>
                <a:cs typeface="Arial"/>
              </a:rPr>
              <a:t>LOCATION</a:t>
            </a:r>
          </a:p>
        </p:txBody>
      </p:sp>
      <p:sp>
        <p:nvSpPr>
          <p:cNvPr id="7" name="field-value-0">
            <a:extLst xmlns:a="http://schemas.openxmlformats.org/drawingml/2006/main">
              <a:ext uri="{FF2B5EF4-FFF2-40B4-BE49-F238E27FC236}">
                <a16:creationId xmlns:a16="http://schemas.microsoft.com/office/drawing/2014/main" id="{35ADCED8-4620-4413-8CB0-6EA204BC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004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83F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F35"/>
                </a:solidFill>
                <a:latin typeface="Arial"/>
                <a:ea typeface="Arial"/>
                <a:cs typeface="Arial"/>
              </a:rPr>
              <a:t>[City, country]</a:t>
            </a:r>
          </a:p>
        </p:txBody>
      </p:sp>
      <p:sp>
        <p:nvSpPr>
          <p:cNvPr id="8" name="field-label-1">
            <a:extLst xmlns:a="http://schemas.openxmlformats.org/drawingml/2006/main">
              <a:ext uri="{FF2B5EF4-FFF2-40B4-BE49-F238E27FC236}">
                <a16:creationId xmlns:a16="http://schemas.microsoft.com/office/drawing/2014/main" id="{A8EB7077-85A2-4FD6-9291-11F0ABFC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1624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5D6D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D6D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D62"/>
                </a:solidFill>
                <a:latin typeface="Arial"/>
                <a:ea typeface="Arial"/>
                <a:cs typeface="Arial"/>
              </a:rPr>
              <a:t>ROOMS</a:t>
            </a:r>
          </a:p>
        </p:txBody>
      </p:sp>
      <p:sp>
        <p:nvSpPr>
          <p:cNvPr id="9" name="field-value-1">
            <a:extLst xmlns:a="http://schemas.openxmlformats.org/drawingml/2006/main">
              <a:ext uri="{FF2B5EF4-FFF2-40B4-BE49-F238E27FC236}">
                <a16:creationId xmlns:a16="http://schemas.microsoft.com/office/drawing/2014/main" id="{0BE9EDB5-57AB-454E-A376-3BB7BFFD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433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83F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F35"/>
                </a:solidFill>
                <a:latin typeface="Arial"/>
                <a:ea typeface="Arial"/>
                <a:cs typeface="Arial"/>
              </a:rPr>
              <a:t>[Confirmed key count]</a:t>
            </a:r>
          </a:p>
        </p:txBody>
      </p:sp>
      <p:sp>
        <p:nvSpPr>
          <p:cNvPr id="10" name="field-label-2">
            <a:extLst xmlns:a="http://schemas.openxmlformats.org/drawingml/2006/main">
              <a:ext uri="{FF2B5EF4-FFF2-40B4-BE49-F238E27FC236}">
                <a16:creationId xmlns:a16="http://schemas.microsoft.com/office/drawing/2014/main" id="{F70AC209-84DC-42F1-9E99-F2104A70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053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5D6D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D6D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D62"/>
                </a:solidFill>
                <a:latin typeface="Arial"/>
                <a:ea typeface="Arial"/>
                <a:cs typeface="Arial"/>
              </a:rPr>
              <a:t>SPACES</a:t>
            </a:r>
          </a:p>
        </p:txBody>
      </p:sp>
      <p:sp>
        <p:nvSpPr>
          <p:cNvPr id="11" name="field-value-2">
            <a:extLst xmlns:a="http://schemas.openxmlformats.org/drawingml/2006/main">
              <a:ext uri="{FF2B5EF4-FFF2-40B4-BE49-F238E27FC236}">
                <a16:creationId xmlns:a16="http://schemas.microsoft.com/office/drawing/2014/main" id="{0D31EC49-9BAC-45EB-9A29-9C0221E1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8630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83F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F35"/>
                </a:solidFill>
                <a:latin typeface="Arial"/>
                <a:ea typeface="Arial"/>
                <a:cs typeface="Arial"/>
              </a:rPr>
              <a:t>[Owner-approved facilities]</a:t>
            </a:r>
          </a:p>
        </p:txBody>
      </p:sp>
      <p:sp>
        <p:nvSpPr>
          <p:cNvPr id="12" name="field-label-3">
            <a:extLst xmlns:a="http://schemas.openxmlformats.org/drawingml/2006/main">
              <a:ext uri="{FF2B5EF4-FFF2-40B4-BE49-F238E27FC236}">
                <a16:creationId xmlns:a16="http://schemas.microsoft.com/office/drawing/2014/main" id="{7C007388-615F-4714-A1BC-6323493B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2482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5D6D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5D6D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D6D62"/>
                </a:solidFill>
                <a:latin typeface="Arial"/>
                <a:ea typeface="Arial"/>
                <a:cs typeface="Arial"/>
              </a:rPr>
              <a:t>OPENING</a:t>
            </a:r>
          </a:p>
        </p:txBody>
      </p:sp>
      <p:sp>
        <p:nvSpPr>
          <p:cNvPr id="13" name="field-value-3">
            <a:extLst xmlns:a="http://schemas.openxmlformats.org/drawingml/2006/main">
              <a:ext uri="{FF2B5EF4-FFF2-40B4-BE49-F238E27FC236}">
                <a16:creationId xmlns:a16="http://schemas.microsoft.com/office/drawing/2014/main" id="{0279C72F-ED0B-480B-81FA-D03D9DB5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2922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8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83F3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F35"/>
                </a:solidFill>
                <a:latin typeface="Arial"/>
                <a:ea typeface="Arial"/>
                <a:cs typeface="Arial"/>
              </a:rPr>
              <a:t>[Confirmed date or status]</a:t>
            </a:r>
          </a:p>
        </p:txBody>
      </p:sp>
      <p:sp>
        <p:nvSpPr>
          <p:cNvPr id="14" name="property-disclosure">
            <a:extLst xmlns:a="http://schemas.openxmlformats.org/drawingml/2006/main">
              <a:ext uri="{FF2B5EF4-FFF2-40B4-BE49-F238E27FC236}">
                <a16:creationId xmlns:a16="http://schemas.microsoft.com/office/drawing/2014/main" id="{3304BF79-EE15-45C9-B967-FBEEDAC0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18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183F3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83F35"/>
                </a:solidFill>
                <a:latin typeface="Arial"/>
                <a:ea typeface="Arial"/>
                <a:cs typeface="Arial"/>
              </a:rPr>
              <a:t>Independent concept / fictional property: Arden House</a:t>
            </a:r>
          </a:p>
        </p:txBody>
      </p:sp>
    </p:spTree>
    <p:extLst>
      <p:ext uri="{BB962C8B-B14F-4D97-AF65-F5344CB8AC3E}">
        <p14:creationId xmlns:p14="http://schemas.microsoft.com/office/powerpoint/2010/main" val="6091174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2026-10-10T10:43:07.0170000Z</dcterms:created>
  <dcterms:modified xsi:type="dcterms:W3CDTF">2026-10-10T10:43:07.0170000Z</dcterms:modified>
</coreProperties>
</file>